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1" r:id="rId5"/>
    <p:sldId id="270" r:id="rId6"/>
    <p:sldId id="262" r:id="rId7"/>
    <p:sldId id="263" r:id="rId8"/>
    <p:sldId id="272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A00"/>
    <a:srgbClr val="00DBD6"/>
    <a:srgbClr val="3FA4FF"/>
    <a:srgbClr val="FFFFFF"/>
    <a:srgbClr val="00FFFF"/>
    <a:srgbClr val="7D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>
        <p:scale>
          <a:sx n="100" d="100"/>
          <a:sy n="100" d="100"/>
        </p:scale>
        <p:origin x="245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haan hasan" userId="09b9e162613436fb" providerId="LiveId" clId="{DE753C6C-8103-4955-83C7-12D3D5C194F7}"/>
    <pc:docChg chg="modSld">
      <pc:chgData name="rehaan hasan" userId="09b9e162613436fb" providerId="LiveId" clId="{DE753C6C-8103-4955-83C7-12D3D5C194F7}" dt="2026-10-25T11:16:09.114" v="1" actId="1076"/>
      <pc:docMkLst>
        <pc:docMk/>
      </pc:docMkLst>
      <pc:sldChg chg="modSp mod">
        <pc:chgData name="rehaan hasan" userId="09b9e162613436fb" providerId="LiveId" clId="{DE753C6C-8103-4955-83C7-12D3D5C194F7}" dt="2026-10-25T11:16:09.114" v="1" actId="1076"/>
        <pc:sldMkLst>
          <pc:docMk/>
          <pc:sldMk cId="95992585" sldId="257"/>
        </pc:sldMkLst>
        <pc:picChg chg="mod">
          <ac:chgData name="rehaan hasan" userId="09b9e162613436fb" providerId="LiveId" clId="{DE753C6C-8103-4955-83C7-12D3D5C194F7}" dt="2026-10-25T11:16:09.114" v="1" actId="1076"/>
          <ac:picMkLst>
            <pc:docMk/>
            <pc:sldMk cId="95992585" sldId="257"/>
            <ac:picMk id="2" creationId="{9581DC9A-37B5-4903-8E53-675E2B2F38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F3F856-1286-6692-81EE-29719DB1BCBE}"/>
              </a:ext>
            </a:extLst>
          </p:cNvPr>
          <p:cNvSpPr/>
          <p:nvPr/>
        </p:nvSpPr>
        <p:spPr>
          <a:xfrm>
            <a:off x="-158620" y="1511559"/>
            <a:ext cx="345231" cy="3834882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EF35F-EB84-C0DB-C027-498BE06035EA}"/>
              </a:ext>
            </a:extLst>
          </p:cNvPr>
          <p:cNvSpPr txBox="1"/>
          <p:nvPr/>
        </p:nvSpPr>
        <p:spPr>
          <a:xfrm>
            <a:off x="559837" y="2270745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3FA4FF"/>
                </a:solidFill>
                <a:latin typeface="Heavitas" pitchFamily="2" charset="0"/>
              </a:rPr>
              <a:t>Cyclistic users, 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661DD-DD5C-77A1-49B0-5B91D6BE6346}"/>
              </a:ext>
            </a:extLst>
          </p:cNvPr>
          <p:cNvSpPr txBox="1"/>
          <p:nvPr/>
        </p:nvSpPr>
        <p:spPr>
          <a:xfrm>
            <a:off x="559837" y="3940924"/>
            <a:ext cx="5536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 Variable Small" pitchFamily="2" charset="0"/>
              </a:rPr>
              <a:t>Presented by</a:t>
            </a:r>
            <a:r>
              <a:rPr lang="en-IN" dirty="0">
                <a:latin typeface="Segoe UI Variable Small" pitchFamily="2" charset="0"/>
              </a:rPr>
              <a:t>: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Rehaan Hasan Ansari</a:t>
            </a:r>
            <a:br>
              <a:rPr lang="en-IN" dirty="0">
                <a:latin typeface="Segoe UI Variable Small" pitchFamily="2" charset="0"/>
              </a:rPr>
            </a:br>
            <a:r>
              <a:rPr lang="en-IN" b="1" dirty="0">
                <a:latin typeface="Segoe UI Variable Small" pitchFamily="2" charset="0"/>
              </a:rPr>
              <a:t>Last updated</a:t>
            </a:r>
            <a:r>
              <a:rPr lang="en-IN" dirty="0">
                <a:latin typeface="Segoe UI Variable Small" pitchFamily="2" charset="0"/>
              </a:rPr>
              <a:t>: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26-10-2026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2BF0FC-44A9-589A-4935-5E84EEBE15E7}"/>
              </a:ext>
            </a:extLst>
          </p:cNvPr>
          <p:cNvSpPr/>
          <p:nvPr/>
        </p:nvSpPr>
        <p:spPr>
          <a:xfrm rot="5400000">
            <a:off x="5923386" y="-3643928"/>
            <a:ext cx="345228" cy="458724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3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5E84-FAF1-AEA4-0196-6B6B5204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ECDB6A-9019-45CB-D882-FAA5DA1F73D5}"/>
              </a:ext>
            </a:extLst>
          </p:cNvPr>
          <p:cNvSpPr/>
          <p:nvPr/>
        </p:nvSpPr>
        <p:spPr>
          <a:xfrm>
            <a:off x="-4199125" y="1511559"/>
            <a:ext cx="345231" cy="3834882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92168-84D3-3DF9-EE62-8A53219B1CB8}"/>
              </a:ext>
            </a:extLst>
          </p:cNvPr>
          <p:cNvSpPr txBox="1"/>
          <p:nvPr/>
        </p:nvSpPr>
        <p:spPr>
          <a:xfrm>
            <a:off x="2312437" y="865228"/>
            <a:ext cx="755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3FA4FF"/>
                </a:solidFill>
                <a:latin typeface="Heavitas" pitchFamily="2" charset="0"/>
              </a:rPr>
              <a:t>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D463F-D7A2-D9C5-743B-FCD840FDC151}"/>
              </a:ext>
            </a:extLst>
          </p:cNvPr>
          <p:cNvSpPr txBox="1"/>
          <p:nvPr/>
        </p:nvSpPr>
        <p:spPr>
          <a:xfrm>
            <a:off x="4814498" y="2668785"/>
            <a:ext cx="25536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Objective.</a:t>
            </a:r>
            <a:b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</a:b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Analysis.</a:t>
            </a:r>
            <a:b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</a:b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Conclusion.</a:t>
            </a:r>
            <a:br>
              <a:rPr lang="en-IN" sz="2400" b="1" dirty="0">
                <a:latin typeface="Segoe UI Variable Small" pitchFamily="2" charset="0"/>
              </a:rPr>
            </a:br>
            <a:br>
              <a:rPr lang="en-IN" sz="2400" b="1" dirty="0">
                <a:latin typeface="Segoe UI Variable Small" pitchFamily="2" charset="0"/>
              </a:rPr>
            </a:br>
            <a:endParaRPr lang="en-IN" sz="2400" b="1" dirty="0">
              <a:latin typeface="Segoe UI Variable Small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31C5C-5211-432A-0530-EFE7A0164D1C}"/>
              </a:ext>
            </a:extLst>
          </p:cNvPr>
          <p:cNvSpPr/>
          <p:nvPr/>
        </p:nvSpPr>
        <p:spPr>
          <a:xfrm rot="5400000">
            <a:off x="5923386" y="-2293620"/>
            <a:ext cx="345228" cy="458724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31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BFD63-A622-C54B-1D74-BED4934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AB179D-0F41-B72D-A3F4-6F728C559B96}"/>
              </a:ext>
            </a:extLst>
          </p:cNvPr>
          <p:cNvSpPr/>
          <p:nvPr/>
        </p:nvSpPr>
        <p:spPr>
          <a:xfrm>
            <a:off x="-158620" y="1511559"/>
            <a:ext cx="345231" cy="3834882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E45E3-3908-9B79-BAFA-CE1953B0349C}"/>
              </a:ext>
            </a:extLst>
          </p:cNvPr>
          <p:cNvSpPr txBox="1"/>
          <p:nvPr/>
        </p:nvSpPr>
        <p:spPr>
          <a:xfrm>
            <a:off x="559837" y="2037651"/>
            <a:ext cx="755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3FA4FF"/>
                </a:solidFill>
                <a:latin typeface="Heavitas" pitchFamily="2" charset="0"/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5A12C-1C34-92AA-7CCF-2024F28BC25C}"/>
              </a:ext>
            </a:extLst>
          </p:cNvPr>
          <p:cNvSpPr txBox="1"/>
          <p:nvPr/>
        </p:nvSpPr>
        <p:spPr>
          <a:xfrm>
            <a:off x="559837" y="3633014"/>
            <a:ext cx="80616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Understanding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how</a:t>
            </a:r>
            <a:r>
              <a:rPr lang="en-IN" sz="2000" b="1" dirty="0">
                <a:latin typeface="Segoe UI Variable Small" pitchFamily="2" charset="0"/>
              </a:rPr>
              <a:t> </a:t>
            </a:r>
            <a:r>
              <a:rPr lang="en-IN" sz="2000" b="1" dirty="0">
                <a:solidFill>
                  <a:srgbClr val="FFAA00"/>
                </a:solidFill>
                <a:latin typeface="Segoe UI Variable Small" pitchFamily="2" charset="0"/>
              </a:rPr>
              <a:t>casual riders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and</a:t>
            </a:r>
            <a:r>
              <a:rPr lang="en-IN" sz="2000" b="1" dirty="0">
                <a:latin typeface="Segoe UI Variable Small" pitchFamily="2" charset="0"/>
              </a:rPr>
              <a:t> </a:t>
            </a:r>
            <a:r>
              <a:rPr lang="en-IN" sz="2000" b="1" dirty="0">
                <a:solidFill>
                  <a:srgbClr val="00DBD6"/>
                </a:solidFill>
                <a:latin typeface="Segoe UI Variable Small" pitchFamily="2" charset="0"/>
              </a:rPr>
              <a:t>members</a:t>
            </a:r>
            <a:r>
              <a:rPr lang="en-IN" sz="2000" b="1" dirty="0">
                <a:latin typeface="Segoe UI Variable Small" pitchFamily="2" charset="0"/>
              </a:rPr>
              <a:t>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use Cyclistic bikes differently, with the goal of developing a marketing campaign that converts </a:t>
            </a:r>
            <a:r>
              <a:rPr lang="en-IN" sz="2000" b="1" dirty="0">
                <a:solidFill>
                  <a:srgbClr val="FFAA00"/>
                </a:solidFill>
                <a:latin typeface="Segoe UI Variable Small" pitchFamily="2" charset="0"/>
              </a:rPr>
              <a:t>casual riders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into </a:t>
            </a:r>
            <a:r>
              <a:rPr lang="en-IN" sz="2000" b="1" dirty="0">
                <a:solidFill>
                  <a:srgbClr val="00DBD6"/>
                </a:solidFill>
                <a:latin typeface="Segoe UI Variable Small" pitchFamily="2" charset="0"/>
              </a:rPr>
              <a:t>members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78A51A-9F1F-EE07-8B3F-203CF26C9851}"/>
              </a:ext>
            </a:extLst>
          </p:cNvPr>
          <p:cNvGrpSpPr/>
          <p:nvPr/>
        </p:nvGrpSpPr>
        <p:grpSpPr>
          <a:xfrm>
            <a:off x="0" y="-5462953"/>
            <a:ext cx="12192000" cy="5254906"/>
            <a:chOff x="0" y="-5462953"/>
            <a:chExt cx="12192000" cy="52549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42D9583-A03B-7806-A9F5-26C1F22411DF}"/>
                </a:ext>
              </a:extLst>
            </p:cNvPr>
            <p:cNvSpPr/>
            <p:nvPr/>
          </p:nvSpPr>
          <p:spPr>
            <a:xfrm>
              <a:off x="0" y="-5462953"/>
              <a:ext cx="12192000" cy="5254906"/>
            </a:xfrm>
            <a:prstGeom prst="rect">
              <a:avLst/>
            </a:prstGeom>
            <a:solidFill>
              <a:srgbClr val="3FA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319C314-5454-5175-1F52-E0E600DF9FC2}"/>
                </a:ext>
              </a:extLst>
            </p:cNvPr>
            <p:cNvSpPr/>
            <p:nvPr/>
          </p:nvSpPr>
          <p:spPr>
            <a:xfrm>
              <a:off x="1308519" y="-4293910"/>
              <a:ext cx="45719" cy="29168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DE72A89-D2A3-BFF0-0814-D093937CE2EF}"/>
              </a:ext>
            </a:extLst>
          </p:cNvPr>
          <p:cNvSpPr/>
          <p:nvPr/>
        </p:nvSpPr>
        <p:spPr>
          <a:xfrm rot="5400000">
            <a:off x="5923386" y="-7970519"/>
            <a:ext cx="345228" cy="798576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19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12BA-5E69-336E-AF5A-81B1F580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FF40E3-0325-72E5-9F94-DAD452C131D8}"/>
              </a:ext>
            </a:extLst>
          </p:cNvPr>
          <p:cNvGrpSpPr/>
          <p:nvPr/>
        </p:nvGrpSpPr>
        <p:grpSpPr>
          <a:xfrm>
            <a:off x="0" y="1"/>
            <a:ext cx="12192000" cy="5254906"/>
            <a:chOff x="0" y="1"/>
            <a:chExt cx="12192000" cy="52549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FA75B4-E6BA-420C-EEA5-2809B0BC29F1}"/>
                </a:ext>
              </a:extLst>
            </p:cNvPr>
            <p:cNvSpPr/>
            <p:nvPr/>
          </p:nvSpPr>
          <p:spPr>
            <a:xfrm>
              <a:off x="0" y="1"/>
              <a:ext cx="12192000" cy="5254906"/>
            </a:xfrm>
            <a:prstGeom prst="rect">
              <a:avLst/>
            </a:prstGeom>
            <a:solidFill>
              <a:srgbClr val="3FA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775530E-6F72-8F08-9E77-FE061A04E276}"/>
                </a:ext>
              </a:extLst>
            </p:cNvPr>
            <p:cNvSpPr/>
            <p:nvPr/>
          </p:nvSpPr>
          <p:spPr>
            <a:xfrm>
              <a:off x="1308519" y="1169044"/>
              <a:ext cx="45719" cy="29168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020C484-0641-69C3-D83A-7B2349879EEA}"/>
              </a:ext>
            </a:extLst>
          </p:cNvPr>
          <p:cNvSpPr/>
          <p:nvPr/>
        </p:nvSpPr>
        <p:spPr>
          <a:xfrm>
            <a:off x="-4167912" y="1511559"/>
            <a:ext cx="345231" cy="3834882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F8AF0-258F-1E2F-6E59-6DACCDB5157B}"/>
              </a:ext>
            </a:extLst>
          </p:cNvPr>
          <p:cNvSpPr txBox="1"/>
          <p:nvPr/>
        </p:nvSpPr>
        <p:spPr>
          <a:xfrm>
            <a:off x="1619500" y="2627454"/>
            <a:ext cx="8061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Segoe UI Variable Small" pitchFamily="2" charset="0"/>
              </a:rPr>
              <a:t>Cyclistic users, 2019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FC26-0D41-FC82-9129-7BB1E8192AE8}"/>
              </a:ext>
            </a:extLst>
          </p:cNvPr>
          <p:cNvSpPr txBox="1"/>
          <p:nvPr/>
        </p:nvSpPr>
        <p:spPr>
          <a:xfrm>
            <a:off x="1619500" y="1809983"/>
            <a:ext cx="75577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Heavitas" pitchFamily="2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657614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236F-680E-DEF0-94CC-EBF53BD1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455F2-2E9E-63AD-E854-0369660EAC0D}"/>
              </a:ext>
            </a:extLst>
          </p:cNvPr>
          <p:cNvSpPr/>
          <p:nvPr/>
        </p:nvSpPr>
        <p:spPr>
          <a:xfrm>
            <a:off x="-158620" y="1056640"/>
            <a:ext cx="345232" cy="474472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6A5C9-0641-8B2C-3F17-3C1437180908}"/>
              </a:ext>
            </a:extLst>
          </p:cNvPr>
          <p:cNvSpPr txBox="1"/>
          <p:nvPr/>
        </p:nvSpPr>
        <p:spPr>
          <a:xfrm>
            <a:off x="514117" y="2104670"/>
            <a:ext cx="7557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Share of rides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B6F25-3A02-D67A-CBF6-66D803663F84}"/>
              </a:ext>
            </a:extLst>
          </p:cNvPr>
          <p:cNvSpPr txBox="1"/>
          <p:nvPr/>
        </p:nvSpPr>
        <p:spPr>
          <a:xfrm>
            <a:off x="514118" y="2821735"/>
            <a:ext cx="4706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 riders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 take just 23% of rides, yet account for nearly half (48%) of all ride time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 This is due to </a:t>
            </a: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 riders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rides being 3 times longer than </a:t>
            </a:r>
            <a:r>
              <a:rPr lang="en-IN" sz="1400" b="1" dirty="0">
                <a:solidFill>
                  <a:srgbClr val="00DBD6"/>
                </a:solidFill>
                <a:latin typeface="Segoe UI Variable Small" pitchFamily="2" charset="0"/>
              </a:rPr>
              <a:t>members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 on average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  <a:b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</a:b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This pattern suggests that </a:t>
            </a:r>
            <a:r>
              <a:rPr lang="en-IN" sz="1400" b="1" dirty="0">
                <a:solidFill>
                  <a:srgbClr val="00DBD6"/>
                </a:solidFill>
                <a:latin typeface="Segoe UI Variable Small" pitchFamily="2" charset="0"/>
              </a:rPr>
              <a:t>member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may use the Cyclistic bikes for everyday transport and </a:t>
            </a: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 riders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 use it for long rides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 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58D935-A29D-CB01-B756-12A4BA5AE7B6}"/>
              </a:ext>
            </a:extLst>
          </p:cNvPr>
          <p:cNvGrpSpPr/>
          <p:nvPr/>
        </p:nvGrpSpPr>
        <p:grpSpPr>
          <a:xfrm>
            <a:off x="0" y="-8991599"/>
            <a:ext cx="12192000" cy="5254906"/>
            <a:chOff x="0" y="-8991599"/>
            <a:chExt cx="12192000" cy="525490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1C4B18-69FD-4665-8DDA-574A96B6C8F3}"/>
                </a:ext>
              </a:extLst>
            </p:cNvPr>
            <p:cNvSpPr/>
            <p:nvPr/>
          </p:nvSpPr>
          <p:spPr>
            <a:xfrm>
              <a:off x="0" y="-8991599"/>
              <a:ext cx="12192000" cy="5254906"/>
            </a:xfrm>
            <a:prstGeom prst="rect">
              <a:avLst/>
            </a:prstGeom>
            <a:solidFill>
              <a:srgbClr val="3FA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38E6C83-FD17-1A4E-7422-D613293D551E}"/>
                </a:ext>
              </a:extLst>
            </p:cNvPr>
            <p:cNvSpPr/>
            <p:nvPr/>
          </p:nvSpPr>
          <p:spPr>
            <a:xfrm>
              <a:off x="1308519" y="-7822556"/>
              <a:ext cx="45719" cy="29168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B138C26-3726-F14A-32D3-543587258306}"/>
              </a:ext>
            </a:extLst>
          </p:cNvPr>
          <p:cNvGrpSpPr/>
          <p:nvPr/>
        </p:nvGrpSpPr>
        <p:grpSpPr>
          <a:xfrm>
            <a:off x="5547688" y="1511559"/>
            <a:ext cx="6486976" cy="3632353"/>
            <a:chOff x="5547688" y="1511559"/>
            <a:chExt cx="6486976" cy="3632353"/>
          </a:xfrm>
        </p:grpSpPr>
        <p:pic>
          <p:nvPicPr>
            <p:cNvPr id="8" name="slide2" descr="Share of riders">
              <a:extLst>
                <a:ext uri="{FF2B5EF4-FFF2-40B4-BE49-F238E27FC236}">
                  <a16:creationId xmlns:a16="http://schemas.microsoft.com/office/drawing/2014/main" id="{6711E8E1-9835-2CFC-46D1-D2C6D90B6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29" t="26518" r="41055" b="26518"/>
            <a:stretch>
              <a:fillRect/>
            </a:stretch>
          </p:blipFill>
          <p:spPr>
            <a:xfrm>
              <a:off x="8844825" y="2288526"/>
              <a:ext cx="2358006" cy="2532842"/>
            </a:xfrm>
            <a:prstGeom prst="rect">
              <a:avLst/>
            </a:prstGeom>
          </p:spPr>
        </p:pic>
        <p:pic>
          <p:nvPicPr>
            <p:cNvPr id="10" name="slide2" descr="Share of riders">
              <a:extLst>
                <a:ext uri="{FF2B5EF4-FFF2-40B4-BE49-F238E27FC236}">
                  <a16:creationId xmlns:a16="http://schemas.microsoft.com/office/drawing/2014/main" id="{D0381070-BAB6-F77A-DB58-B2A55096A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628" t="5373" r="2733" b="85203"/>
            <a:stretch>
              <a:fillRect/>
            </a:stretch>
          </p:blipFill>
          <p:spPr>
            <a:xfrm>
              <a:off x="10972799" y="1511559"/>
              <a:ext cx="1061865" cy="667284"/>
            </a:xfrm>
            <a:prstGeom prst="rect">
              <a:avLst/>
            </a:prstGeom>
          </p:spPr>
        </p:pic>
        <p:pic>
          <p:nvPicPr>
            <p:cNvPr id="11" name="slide3" descr="Share of ride hours">
              <a:extLst>
                <a:ext uri="{FF2B5EF4-FFF2-40B4-BE49-F238E27FC236}">
                  <a16:creationId xmlns:a16="http://schemas.microsoft.com/office/drawing/2014/main" id="{F4BA4163-902B-FE0D-796E-397B46920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39" t="24910" r="36366" b="19173"/>
            <a:stretch>
              <a:fillRect/>
            </a:stretch>
          </p:blipFill>
          <p:spPr>
            <a:xfrm>
              <a:off x="5547688" y="2385300"/>
              <a:ext cx="3211015" cy="2652513"/>
            </a:xfrm>
            <a:prstGeom prst="rect">
              <a:avLst/>
            </a:prstGeom>
          </p:spPr>
        </p:pic>
        <p:pic>
          <p:nvPicPr>
            <p:cNvPr id="29" name="slide2" descr="Share of Riders">
              <a:extLst>
                <a:ext uri="{FF2B5EF4-FFF2-40B4-BE49-F238E27FC236}">
                  <a16:creationId xmlns:a16="http://schemas.microsoft.com/office/drawing/2014/main" id="{452F5005-51D4-353E-FFB7-9FD1F0E9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00" r="86953" b="95639"/>
            <a:stretch>
              <a:fillRect/>
            </a:stretch>
          </p:blipFill>
          <p:spPr>
            <a:xfrm>
              <a:off x="9241729" y="4821368"/>
              <a:ext cx="1779840" cy="322544"/>
            </a:xfrm>
            <a:prstGeom prst="rect">
              <a:avLst/>
            </a:prstGeom>
          </p:spPr>
        </p:pic>
        <p:pic>
          <p:nvPicPr>
            <p:cNvPr id="31" name="slide3" descr="Share of Ride Hours">
              <a:extLst>
                <a:ext uri="{FF2B5EF4-FFF2-40B4-BE49-F238E27FC236}">
                  <a16:creationId xmlns:a16="http://schemas.microsoft.com/office/drawing/2014/main" id="{DA20587C-142C-C4C8-AA87-91F7CECCB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36" t="1000" r="46803" b="94741"/>
            <a:stretch>
              <a:fillRect/>
            </a:stretch>
          </p:blipFill>
          <p:spPr>
            <a:xfrm>
              <a:off x="6111795" y="4836590"/>
              <a:ext cx="2082800" cy="292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8096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CF86D21-832B-FD5F-ADD2-E94A9E99450C}"/>
              </a:ext>
            </a:extLst>
          </p:cNvPr>
          <p:cNvGrpSpPr/>
          <p:nvPr/>
        </p:nvGrpSpPr>
        <p:grpSpPr>
          <a:xfrm>
            <a:off x="4836340" y="1349797"/>
            <a:ext cx="7355660" cy="4337913"/>
            <a:chOff x="4694949" y="1349797"/>
            <a:chExt cx="7355660" cy="4337913"/>
          </a:xfrm>
        </p:grpSpPr>
        <p:pic>
          <p:nvPicPr>
            <p:cNvPr id="5" name="slide7" descr="Start time for the rides">
              <a:extLst>
                <a:ext uri="{FF2B5EF4-FFF2-40B4-BE49-F238E27FC236}">
                  <a16:creationId xmlns:a16="http://schemas.microsoft.com/office/drawing/2014/main" id="{E37CF293-3FFE-2B51-69FB-18C7B67A0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7" t="9254" r="10228" b="2560"/>
            <a:stretch>
              <a:fillRect/>
            </a:stretch>
          </p:blipFill>
          <p:spPr>
            <a:xfrm>
              <a:off x="5004634" y="1683439"/>
              <a:ext cx="6629288" cy="3824764"/>
            </a:xfrm>
            <a:prstGeom prst="rect">
              <a:avLst/>
            </a:prstGeom>
          </p:spPr>
        </p:pic>
        <p:pic>
          <p:nvPicPr>
            <p:cNvPr id="3" name="slide2" descr="Share of riders">
              <a:extLst>
                <a:ext uri="{FF2B5EF4-FFF2-40B4-BE49-F238E27FC236}">
                  <a16:creationId xmlns:a16="http://schemas.microsoft.com/office/drawing/2014/main" id="{14EB32F2-9673-45DF-115F-519AA466B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628" t="5373" r="2733" b="85203"/>
            <a:stretch>
              <a:fillRect/>
            </a:stretch>
          </p:blipFill>
          <p:spPr>
            <a:xfrm>
              <a:off x="10988745" y="1349797"/>
              <a:ext cx="1061864" cy="667284"/>
            </a:xfrm>
            <a:prstGeom prst="rect">
              <a:avLst/>
            </a:prstGeom>
          </p:spPr>
        </p:pic>
        <p:pic>
          <p:nvPicPr>
            <p:cNvPr id="12" name="slide7" descr="Start time for the rides">
              <a:extLst>
                <a:ext uri="{FF2B5EF4-FFF2-40B4-BE49-F238E27FC236}">
                  <a16:creationId xmlns:a16="http://schemas.microsoft.com/office/drawing/2014/main" id="{B43075BD-442B-10C6-7658-E94319D26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" t="44461" r="97566" b="43592"/>
            <a:stretch>
              <a:fillRect/>
            </a:stretch>
          </p:blipFill>
          <p:spPr>
            <a:xfrm>
              <a:off x="4694949" y="2943874"/>
              <a:ext cx="314487" cy="970251"/>
            </a:xfrm>
            <a:prstGeom prst="rect">
              <a:avLst/>
            </a:prstGeom>
          </p:spPr>
        </p:pic>
        <p:pic>
          <p:nvPicPr>
            <p:cNvPr id="14" name="slide7" descr="Start time for the rides">
              <a:extLst>
                <a:ext uri="{FF2B5EF4-FFF2-40B4-BE49-F238E27FC236}">
                  <a16:creationId xmlns:a16="http://schemas.microsoft.com/office/drawing/2014/main" id="{DFAF9A67-CC4F-D41F-21F1-176C51D34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25" t="6684" r="48843" b="91254"/>
            <a:stretch>
              <a:fillRect/>
            </a:stretch>
          </p:blipFill>
          <p:spPr>
            <a:xfrm>
              <a:off x="7994474" y="5508203"/>
              <a:ext cx="1131689" cy="179507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F43E5C8-A950-68B3-0BF3-BA1AB0E215BA}"/>
              </a:ext>
            </a:extLst>
          </p:cNvPr>
          <p:cNvSpPr/>
          <p:nvPr/>
        </p:nvSpPr>
        <p:spPr>
          <a:xfrm>
            <a:off x="-158620" y="877078"/>
            <a:ext cx="345232" cy="5103844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79001-EB00-39C6-EB22-34C91DE93876}"/>
              </a:ext>
            </a:extLst>
          </p:cNvPr>
          <p:cNvSpPr txBox="1"/>
          <p:nvPr/>
        </p:nvSpPr>
        <p:spPr>
          <a:xfrm>
            <a:off x="514118" y="1995283"/>
            <a:ext cx="639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Start time for rides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BA0A9-8375-88AE-8361-2E70FAF91834}"/>
              </a:ext>
            </a:extLst>
          </p:cNvPr>
          <p:cNvSpPr txBox="1"/>
          <p:nvPr/>
        </p:nvSpPr>
        <p:spPr>
          <a:xfrm>
            <a:off x="514118" y="2712348"/>
            <a:ext cx="41630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0DBD6"/>
                </a:solidFill>
                <a:latin typeface="Segoe UI Variable Small" pitchFamily="2" charset="0"/>
              </a:rPr>
              <a:t>Members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rides peak around 8 AM and 5 PM, suggesting a possible commuting pattern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  <a:b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</a:b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 rides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increase gradually throughout the day and peak in the late afternoon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</a:p>
          <a:p>
            <a:endParaRPr lang="en-IN" sz="1400" b="1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There is no peak during 8am for </a:t>
            </a:r>
            <a:r>
              <a:rPr lang="en-IN" sz="1400" dirty="0">
                <a:solidFill>
                  <a:srgbClr val="FFAA00"/>
                </a:solidFill>
                <a:latin typeface="Segoe UI Variable Small" pitchFamily="2" charset="0"/>
              </a:rPr>
              <a:t>casual riders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So possibly most of them don’t use Cyclist bikes to commute to work but they do use them after the working hours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1601B44-4A52-A823-CEBE-F589F48958E2}"/>
              </a:ext>
            </a:extLst>
          </p:cNvPr>
          <p:cNvGrpSpPr/>
          <p:nvPr/>
        </p:nvGrpSpPr>
        <p:grpSpPr>
          <a:xfrm>
            <a:off x="4700821" y="1349797"/>
            <a:ext cx="7349788" cy="4240502"/>
            <a:chOff x="4700821" y="1349797"/>
            <a:chExt cx="7349788" cy="4240502"/>
          </a:xfrm>
        </p:grpSpPr>
        <p:pic>
          <p:nvPicPr>
            <p:cNvPr id="8" name="slide8" descr="Number of rides in a month">
              <a:extLst>
                <a:ext uri="{FF2B5EF4-FFF2-40B4-BE49-F238E27FC236}">
                  <a16:creationId xmlns:a16="http://schemas.microsoft.com/office/drawing/2014/main" id="{FE8B44A3-62BD-4BC4-BD6C-1B9D07C0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3" t="9129" r="10324" b="2939"/>
            <a:stretch>
              <a:fillRect/>
            </a:stretch>
          </p:blipFill>
          <p:spPr>
            <a:xfrm>
              <a:off x="5009436" y="1682855"/>
              <a:ext cx="6521814" cy="3740426"/>
            </a:xfrm>
            <a:prstGeom prst="rect">
              <a:avLst/>
            </a:prstGeom>
          </p:spPr>
        </p:pic>
        <p:pic>
          <p:nvPicPr>
            <p:cNvPr id="3" name="slide2" descr="Share of riders">
              <a:extLst>
                <a:ext uri="{FF2B5EF4-FFF2-40B4-BE49-F238E27FC236}">
                  <a16:creationId xmlns:a16="http://schemas.microsoft.com/office/drawing/2014/main" id="{35A0FD73-AC52-F3B6-5835-57E57F348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628" t="5373" r="2733" b="85203"/>
            <a:stretch>
              <a:fillRect/>
            </a:stretch>
          </p:blipFill>
          <p:spPr>
            <a:xfrm>
              <a:off x="10988745" y="1349797"/>
              <a:ext cx="1061864" cy="667284"/>
            </a:xfrm>
            <a:prstGeom prst="rect">
              <a:avLst/>
            </a:prstGeom>
          </p:spPr>
        </p:pic>
        <p:pic>
          <p:nvPicPr>
            <p:cNvPr id="12" name="slide7" descr="Start time for the rides">
              <a:extLst>
                <a:ext uri="{FF2B5EF4-FFF2-40B4-BE49-F238E27FC236}">
                  <a16:creationId xmlns:a16="http://schemas.microsoft.com/office/drawing/2014/main" id="{594A3C1A-C0B9-9952-F165-057982DED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" t="44461" r="97566" b="43592"/>
            <a:stretch>
              <a:fillRect/>
            </a:stretch>
          </p:blipFill>
          <p:spPr>
            <a:xfrm>
              <a:off x="4700821" y="2943874"/>
              <a:ext cx="314487" cy="970251"/>
            </a:xfrm>
            <a:prstGeom prst="rect">
              <a:avLst/>
            </a:prstGeom>
          </p:spPr>
        </p:pic>
        <p:pic>
          <p:nvPicPr>
            <p:cNvPr id="18" name="slide8" descr="Number of rides in a month">
              <a:extLst>
                <a:ext uri="{FF2B5EF4-FFF2-40B4-BE49-F238E27FC236}">
                  <a16:creationId xmlns:a16="http://schemas.microsoft.com/office/drawing/2014/main" id="{E9B929EE-2391-057B-CFF0-10AC94D64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976" t="6605" r="49036" b="91335"/>
            <a:stretch>
              <a:fillRect/>
            </a:stretch>
          </p:blipFill>
          <p:spPr>
            <a:xfrm>
              <a:off x="8181521" y="5423281"/>
              <a:ext cx="991218" cy="16701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1AF0296-87C3-F2F0-BC27-CFAD7BE5B179}"/>
              </a:ext>
            </a:extLst>
          </p:cNvPr>
          <p:cNvSpPr/>
          <p:nvPr/>
        </p:nvSpPr>
        <p:spPr>
          <a:xfrm>
            <a:off x="-158620" y="877078"/>
            <a:ext cx="345232" cy="5103844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71400-284A-EDC9-2E75-8E04AC7FE5F1}"/>
              </a:ext>
            </a:extLst>
          </p:cNvPr>
          <p:cNvSpPr txBox="1"/>
          <p:nvPr/>
        </p:nvSpPr>
        <p:spPr>
          <a:xfrm>
            <a:off x="514118" y="2124719"/>
            <a:ext cx="4921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Number of rides in months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9A7B8-4320-59FF-4B2A-247C040DD5D6}"/>
              </a:ext>
            </a:extLst>
          </p:cNvPr>
          <p:cNvSpPr txBox="1"/>
          <p:nvPr/>
        </p:nvSpPr>
        <p:spPr>
          <a:xfrm>
            <a:off x="514118" y="3232282"/>
            <a:ext cx="416301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Both type of users show a similar seasonal pattern in ride volume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  <a:b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</a:b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Demand is highest during the summer and lowest during the winter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br>
              <a:rPr lang="en-IN" sz="1400" dirty="0"/>
            </a:b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0BE874C-8355-34F4-B721-193086A656C8}"/>
              </a:ext>
            </a:extLst>
          </p:cNvPr>
          <p:cNvGrpSpPr/>
          <p:nvPr/>
        </p:nvGrpSpPr>
        <p:grpSpPr>
          <a:xfrm>
            <a:off x="4190035" y="1384421"/>
            <a:ext cx="7860574" cy="4258195"/>
            <a:chOff x="4190035" y="1384421"/>
            <a:chExt cx="7860574" cy="4258195"/>
          </a:xfrm>
        </p:grpSpPr>
        <p:pic>
          <p:nvPicPr>
            <p:cNvPr id="5" name="slide10" descr="Top 15 stations">
              <a:extLst>
                <a:ext uri="{FF2B5EF4-FFF2-40B4-BE49-F238E27FC236}">
                  <a16:creationId xmlns:a16="http://schemas.microsoft.com/office/drawing/2014/main" id="{4E4DB358-A7C3-3432-02CD-8A86F52EF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45" r="10225" b="7555"/>
            <a:stretch>
              <a:fillRect/>
            </a:stretch>
          </p:blipFill>
          <p:spPr>
            <a:xfrm>
              <a:off x="4357412" y="1589719"/>
              <a:ext cx="7162265" cy="3830835"/>
            </a:xfrm>
            <a:prstGeom prst="rect">
              <a:avLst/>
            </a:prstGeom>
          </p:spPr>
        </p:pic>
        <p:pic>
          <p:nvPicPr>
            <p:cNvPr id="8" name="slide2" descr="Share of riders">
              <a:extLst>
                <a:ext uri="{FF2B5EF4-FFF2-40B4-BE49-F238E27FC236}">
                  <a16:creationId xmlns:a16="http://schemas.microsoft.com/office/drawing/2014/main" id="{CD56D7FD-30B3-C556-74C5-FDF355AD5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628" t="5373" r="2733" b="88580"/>
            <a:stretch>
              <a:fillRect/>
            </a:stretch>
          </p:blipFill>
          <p:spPr>
            <a:xfrm>
              <a:off x="10988745" y="2071157"/>
              <a:ext cx="1061864" cy="428203"/>
            </a:xfrm>
            <a:prstGeom prst="rect">
              <a:avLst/>
            </a:prstGeom>
          </p:spPr>
        </p:pic>
        <p:pic>
          <p:nvPicPr>
            <p:cNvPr id="10" name="slide10" descr="Top 15 stations">
              <a:extLst>
                <a:ext uri="{FF2B5EF4-FFF2-40B4-BE49-F238E27FC236}">
                  <a16:creationId xmlns:a16="http://schemas.microsoft.com/office/drawing/2014/main" id="{DF982CF8-E1E3-AFB3-B138-50FCE6029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496" t="92860" r="45047" b="4639"/>
            <a:stretch>
              <a:fillRect/>
            </a:stretch>
          </p:blipFill>
          <p:spPr>
            <a:xfrm>
              <a:off x="7938544" y="5420554"/>
              <a:ext cx="1003456" cy="222062"/>
            </a:xfrm>
            <a:prstGeom prst="rect">
              <a:avLst/>
            </a:prstGeom>
          </p:spPr>
        </p:pic>
        <p:pic>
          <p:nvPicPr>
            <p:cNvPr id="13" name="slide6" descr="Top 15 Stations">
              <a:extLst>
                <a:ext uri="{FF2B5EF4-FFF2-40B4-BE49-F238E27FC236}">
                  <a16:creationId xmlns:a16="http://schemas.microsoft.com/office/drawing/2014/main" id="{8F7F4CCC-C534-FD16-D8E9-68C3843A2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2" t="10926" r="88083" b="84962"/>
            <a:stretch>
              <a:fillRect/>
            </a:stretch>
          </p:blipFill>
          <p:spPr>
            <a:xfrm>
              <a:off x="4190035" y="1384421"/>
              <a:ext cx="1210006" cy="20529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175F2C9-A61A-BB59-4A2E-9D67844B9BC2}"/>
              </a:ext>
            </a:extLst>
          </p:cNvPr>
          <p:cNvSpPr/>
          <p:nvPr/>
        </p:nvSpPr>
        <p:spPr>
          <a:xfrm>
            <a:off x="-158620" y="690465"/>
            <a:ext cx="345232" cy="547707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132A3-B482-D883-96B8-05BB150A43F3}"/>
              </a:ext>
            </a:extLst>
          </p:cNvPr>
          <p:cNvSpPr txBox="1"/>
          <p:nvPr/>
        </p:nvSpPr>
        <p:spPr>
          <a:xfrm>
            <a:off x="514118" y="2443570"/>
            <a:ext cx="639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Top 15 stations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EEEFA-73F3-D793-7E0F-322CCBE92F29}"/>
              </a:ext>
            </a:extLst>
          </p:cNvPr>
          <p:cNvSpPr txBox="1"/>
          <p:nvPr/>
        </p:nvSpPr>
        <p:spPr>
          <a:xfrm>
            <a:off x="514119" y="3160635"/>
            <a:ext cx="35157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These are the top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15 stations among the 640 stations, ranked by </a:t>
            </a: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casual-rider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 activity.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b="1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FFAA00"/>
                </a:solidFill>
                <a:latin typeface="Segoe UI Variable Small" pitchFamily="2" charset="0"/>
              </a:rPr>
              <a:t>Casual riders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at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this stations can be surveyed to get more information on their preferences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8531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2" descr="Age Group">
            <a:extLst>
              <a:ext uri="{FF2B5EF4-FFF2-40B4-BE49-F238E27FC236}">
                <a16:creationId xmlns:a16="http://schemas.microsoft.com/office/drawing/2014/main" id="{F27F5D33-82AD-D8A5-2342-DF415DD68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8777" r="11378" b="3111"/>
          <a:stretch>
            <a:fillRect/>
          </a:stretch>
        </p:blipFill>
        <p:spPr>
          <a:xfrm>
            <a:off x="5031587" y="1445497"/>
            <a:ext cx="6800170" cy="3963570"/>
          </a:xfrm>
          <a:prstGeom prst="rect">
            <a:avLst/>
          </a:prstGeom>
        </p:spPr>
      </p:pic>
      <p:pic>
        <p:nvPicPr>
          <p:cNvPr id="5" name="slide2" descr="Share of riders">
            <a:extLst>
              <a:ext uri="{FF2B5EF4-FFF2-40B4-BE49-F238E27FC236}">
                <a16:creationId xmlns:a16="http://schemas.microsoft.com/office/drawing/2014/main" id="{2ABF5E86-B854-A205-01BE-1D769E76C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28" t="5373" r="2733" b="85203"/>
          <a:stretch>
            <a:fillRect/>
          </a:stretch>
        </p:blipFill>
        <p:spPr>
          <a:xfrm>
            <a:off x="10988745" y="1708612"/>
            <a:ext cx="1061864" cy="667284"/>
          </a:xfrm>
          <a:prstGeom prst="rect">
            <a:avLst/>
          </a:prstGeom>
        </p:spPr>
      </p:pic>
      <p:pic>
        <p:nvPicPr>
          <p:cNvPr id="3" name="slide7" descr="Age Group">
            <a:extLst>
              <a:ext uri="{FF2B5EF4-FFF2-40B4-BE49-F238E27FC236}">
                <a16:creationId xmlns:a16="http://schemas.microsoft.com/office/drawing/2014/main" id="{D049A0C5-EC3B-85F3-23A7-9D920B4B8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" t="38778" r="96530" b="37944"/>
          <a:stretch>
            <a:fillRect/>
          </a:stretch>
        </p:blipFill>
        <p:spPr>
          <a:xfrm>
            <a:off x="4875377" y="2630805"/>
            <a:ext cx="156210" cy="1596390"/>
          </a:xfrm>
          <a:prstGeom prst="rect">
            <a:avLst/>
          </a:prstGeom>
        </p:spPr>
      </p:pic>
      <p:pic>
        <p:nvPicPr>
          <p:cNvPr id="6" name="slide7" descr="Age Group">
            <a:extLst>
              <a:ext uri="{FF2B5EF4-FFF2-40B4-BE49-F238E27FC236}">
                <a16:creationId xmlns:a16="http://schemas.microsoft.com/office/drawing/2014/main" id="{89C33FA9-AB73-187B-B518-5B2C19603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6166" r="44430" b="91278"/>
          <a:stretch>
            <a:fillRect/>
          </a:stretch>
        </p:blipFill>
        <p:spPr>
          <a:xfrm>
            <a:off x="7881335" y="5370653"/>
            <a:ext cx="1421130" cy="1752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0C5290-BD05-F860-E242-AD0006C4B870}"/>
              </a:ext>
            </a:extLst>
          </p:cNvPr>
          <p:cNvSpPr/>
          <p:nvPr/>
        </p:nvSpPr>
        <p:spPr>
          <a:xfrm>
            <a:off x="-158620" y="690465"/>
            <a:ext cx="345232" cy="547707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39180-9F81-DED6-A820-5DB5367A462C}"/>
              </a:ext>
            </a:extLst>
          </p:cNvPr>
          <p:cNvSpPr txBox="1"/>
          <p:nvPr/>
        </p:nvSpPr>
        <p:spPr>
          <a:xfrm>
            <a:off x="514118" y="2443570"/>
            <a:ext cx="639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Age groups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7B2782-1BA0-27D3-B89E-0D99B65CF9A7}"/>
              </a:ext>
            </a:extLst>
          </p:cNvPr>
          <p:cNvSpPr txBox="1"/>
          <p:nvPr/>
        </p:nvSpPr>
        <p:spPr>
          <a:xfrm>
            <a:off x="514119" y="3160635"/>
            <a:ext cx="35157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Riders Under 25s are 2.8× more common among </a:t>
            </a:r>
            <a:r>
              <a:rPr lang="en-IN" sz="1400" b="1" dirty="0">
                <a:solidFill>
                  <a:srgbClr val="FFAA00"/>
                </a:solidFill>
              </a:rPr>
              <a:t>casual riders</a:t>
            </a:r>
            <a:r>
              <a:rPr lang="en-IN" sz="1400" dirty="0">
                <a:solidFill>
                  <a:srgbClr val="FFAA00"/>
                </a:solidFill>
              </a:rPr>
              <a:t>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(25.6% vs. 9.2% of rides)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25-34 group is the largest in both user groups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accounting for approximately 50% of each group.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F6D7B-EE15-00E5-6D1B-712D28C4911D}"/>
              </a:ext>
            </a:extLst>
          </p:cNvPr>
          <p:cNvSpPr/>
          <p:nvPr/>
        </p:nvSpPr>
        <p:spPr>
          <a:xfrm rot="5400000">
            <a:off x="5923386" y="-4804719"/>
            <a:ext cx="345228" cy="340995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56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8C8D825-3013-CF15-30DC-E111C9C57671}"/>
              </a:ext>
            </a:extLst>
          </p:cNvPr>
          <p:cNvGrpSpPr/>
          <p:nvPr/>
        </p:nvGrpSpPr>
        <p:grpSpPr>
          <a:xfrm>
            <a:off x="2098382" y="1746494"/>
            <a:ext cx="7995236" cy="1453769"/>
            <a:chOff x="1666583" y="1746494"/>
            <a:chExt cx="7995236" cy="1453769"/>
          </a:xfrm>
        </p:grpSpPr>
        <p:pic>
          <p:nvPicPr>
            <p:cNvPr id="10" name="slide2" descr="Sheet 12">
              <a:extLst>
                <a:ext uri="{FF2B5EF4-FFF2-40B4-BE49-F238E27FC236}">
                  <a16:creationId xmlns:a16="http://schemas.microsoft.com/office/drawing/2014/main" id="{D3A6212A-C1CD-A668-9431-33DEE18D8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043" t="19706" r="3938" b="50890"/>
            <a:stretch>
              <a:fillRect/>
            </a:stretch>
          </p:blipFill>
          <p:spPr>
            <a:xfrm>
              <a:off x="9149101" y="1746494"/>
              <a:ext cx="512718" cy="422910"/>
            </a:xfrm>
            <a:prstGeom prst="rect">
              <a:avLst/>
            </a:prstGeom>
          </p:spPr>
        </p:pic>
        <p:pic>
          <p:nvPicPr>
            <p:cNvPr id="14" name="slide2" descr="Sheet 12">
              <a:extLst>
                <a:ext uri="{FF2B5EF4-FFF2-40B4-BE49-F238E27FC236}">
                  <a16:creationId xmlns:a16="http://schemas.microsoft.com/office/drawing/2014/main" id="{0F658E9D-7448-9FB4-F5C7-11FD39602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" t="28796" r="10809" b="22947"/>
            <a:stretch>
              <a:fillRect/>
            </a:stretch>
          </p:blipFill>
          <p:spPr>
            <a:xfrm>
              <a:off x="1840993" y="2169404"/>
              <a:ext cx="7646416" cy="705104"/>
            </a:xfrm>
            <a:prstGeom prst="rect">
              <a:avLst/>
            </a:prstGeom>
          </p:spPr>
        </p:pic>
        <p:pic>
          <p:nvPicPr>
            <p:cNvPr id="16" name="slide2" descr="Sheet 12">
              <a:extLst>
                <a:ext uri="{FF2B5EF4-FFF2-40B4-BE49-F238E27FC236}">
                  <a16:creationId xmlns:a16="http://schemas.microsoft.com/office/drawing/2014/main" id="{CF61A23C-E7A9-B244-0D98-629C6C735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" t="18782" r="94542" b="70483"/>
            <a:stretch>
              <a:fillRect/>
            </a:stretch>
          </p:blipFill>
          <p:spPr>
            <a:xfrm>
              <a:off x="1666583" y="1948424"/>
              <a:ext cx="645160" cy="220980"/>
            </a:xfrm>
            <a:prstGeom prst="rect">
              <a:avLst/>
            </a:prstGeom>
          </p:spPr>
        </p:pic>
        <p:pic>
          <p:nvPicPr>
            <p:cNvPr id="18" name="slide2" descr="Sheet 12">
              <a:extLst>
                <a:ext uri="{FF2B5EF4-FFF2-40B4-BE49-F238E27FC236}">
                  <a16:creationId xmlns:a16="http://schemas.microsoft.com/office/drawing/2014/main" id="{88DCCD18-AFDD-F027-713F-79A38D756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167" t="76181" r="45210" b="13639"/>
            <a:stretch>
              <a:fillRect/>
            </a:stretch>
          </p:blipFill>
          <p:spPr>
            <a:xfrm>
              <a:off x="4833621" y="2990713"/>
              <a:ext cx="1661159" cy="20955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5678E34-211F-A29C-2E37-A338C159D1DB}"/>
              </a:ext>
            </a:extLst>
          </p:cNvPr>
          <p:cNvSpPr/>
          <p:nvPr/>
        </p:nvSpPr>
        <p:spPr>
          <a:xfrm rot="5400000">
            <a:off x="5923386" y="-1704974"/>
            <a:ext cx="345228" cy="340995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51964F-BABE-DA45-514E-8B28A88EFA4F}"/>
              </a:ext>
            </a:extLst>
          </p:cNvPr>
          <p:cNvSpPr txBox="1"/>
          <p:nvPr/>
        </p:nvSpPr>
        <p:spPr>
          <a:xfrm>
            <a:off x="2312437" y="595525"/>
            <a:ext cx="7557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gender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CAFDB7-40D3-9907-DF3C-0C7CFB9A7A5C}"/>
              </a:ext>
            </a:extLst>
          </p:cNvPr>
          <p:cNvSpPr txBox="1"/>
          <p:nvPr/>
        </p:nvSpPr>
        <p:spPr>
          <a:xfrm>
            <a:off x="2743542" y="3925167"/>
            <a:ext cx="5971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Men account for 62% of </a:t>
            </a: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casual riders</a:t>
            </a:r>
            <a:r>
              <a:rPr lang="en-IN" sz="1400" b="1" dirty="0">
                <a:latin typeface="Segoe UI Variable Small" pitchFamily="2" charset="0"/>
              </a:rPr>
              <a:t>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and 76% </a:t>
            </a:r>
            <a:r>
              <a:rPr lang="en-IN" sz="1400" b="1" dirty="0">
                <a:solidFill>
                  <a:srgbClr val="FFAA00"/>
                </a:solidFill>
                <a:latin typeface="Segoe UI Variable Small" pitchFamily="2" charset="0"/>
              </a:rPr>
              <a:t>of members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,</a:t>
            </a:r>
            <a:r>
              <a:rPr lang="en-IN" sz="1400" b="1" dirty="0">
                <a:latin typeface="Segoe UI Variable Small" pitchFamily="2" charset="0"/>
              </a:rPr>
              <a:t>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making them the majority in both groups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.</a:t>
            </a:r>
            <a:br>
              <a:rPr lang="en-IN" sz="1400" dirty="0">
                <a:latin typeface="Segoe UI Variable Small" pitchFamily="2" charset="0"/>
              </a:rPr>
            </a:br>
            <a:endParaRPr lang="en-IN" sz="1400" dirty="0">
              <a:latin typeface="Segoe UI Variable Small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rPr>
              <a:t>Campaigns should be informed by these demographic patterns</a:t>
            </a:r>
            <a:r>
              <a:rPr lang="en-IN" sz="1400" dirty="0">
                <a:latin typeface="Segoe UI Variable Small" pitchFamily="2" charset="0"/>
              </a:rPr>
              <a:t>, while testing whether different messages appeal to different customer segments.</a:t>
            </a:r>
          </a:p>
          <a:p>
            <a:br>
              <a:rPr lang="en-IN" sz="1400" dirty="0"/>
            </a:b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  <a:latin typeface="Segoe UI Variable Small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CF5A31-1F3F-5587-F4B2-1A767AF54821}"/>
              </a:ext>
            </a:extLst>
          </p:cNvPr>
          <p:cNvSpPr/>
          <p:nvPr/>
        </p:nvSpPr>
        <p:spPr>
          <a:xfrm>
            <a:off x="-6224140" y="690465"/>
            <a:ext cx="345232" cy="547707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7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5DEC2A-CF5A-A9B6-7A0A-6237BDE235BD}"/>
              </a:ext>
            </a:extLst>
          </p:cNvPr>
          <p:cNvSpPr/>
          <p:nvPr/>
        </p:nvSpPr>
        <p:spPr>
          <a:xfrm rot="5400000">
            <a:off x="5923386" y="-2293620"/>
            <a:ext cx="345228" cy="4587240"/>
          </a:xfrm>
          <a:prstGeom prst="rect">
            <a:avLst/>
          </a:prstGeom>
          <a:solidFill>
            <a:srgbClr val="3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22572-300C-E860-5A3C-A09D3E5E8C9A}"/>
              </a:ext>
            </a:extLst>
          </p:cNvPr>
          <p:cNvSpPr txBox="1"/>
          <p:nvPr/>
        </p:nvSpPr>
        <p:spPr>
          <a:xfrm>
            <a:off x="2312437" y="576864"/>
            <a:ext cx="7557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3FA4FF"/>
                </a:solidFill>
                <a:latin typeface="Heavitas" pitchFamily="2" charset="0"/>
              </a:rPr>
              <a:t>conclusions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AFFFB2-4677-1F10-7424-4EEF6A6A7EBA}"/>
              </a:ext>
            </a:extLst>
          </p:cNvPr>
          <p:cNvGrpSpPr/>
          <p:nvPr/>
        </p:nvGrpSpPr>
        <p:grpSpPr>
          <a:xfrm>
            <a:off x="668306" y="2013004"/>
            <a:ext cx="3288262" cy="2203937"/>
            <a:chOff x="668306" y="2551484"/>
            <a:chExt cx="3288262" cy="22039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957CA7-CD76-3B26-E335-3A3C7CFE7562}"/>
                </a:ext>
              </a:extLst>
            </p:cNvPr>
            <p:cNvSpPr txBox="1"/>
            <p:nvPr/>
          </p:nvSpPr>
          <p:spPr>
            <a:xfrm>
              <a:off x="1627414" y="2551484"/>
              <a:ext cx="1370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 Light" panose="020B0502040204020203" pitchFamily="34" charset="0"/>
                  <a:cs typeface="Arial" panose="020B0604020202020204" pitchFamily="34" charset="0"/>
                </a:rPr>
                <a:t>01.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6F6D246-5E73-C59A-307F-349625C13817}"/>
                </a:ext>
              </a:extLst>
            </p:cNvPr>
            <p:cNvSpPr txBox="1"/>
            <p:nvPr/>
          </p:nvSpPr>
          <p:spPr>
            <a:xfrm>
              <a:off x="668306" y="3431982"/>
              <a:ext cx="328826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Market Cyclistic as a daily transportation option, highlighting commuting and everyday errands to </a:t>
              </a:r>
              <a:r>
                <a:rPr lang="en-IN" sz="1600" b="1" dirty="0">
                  <a:solidFill>
                    <a:srgbClr val="FFAA00"/>
                  </a:solidFill>
                </a:rPr>
                <a:t>casual riders 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who currently use the bikes mostly for leisure.</a:t>
              </a:r>
              <a:endPara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B5FC3C4-6197-012E-2B47-F468EC5A3A47}"/>
              </a:ext>
            </a:extLst>
          </p:cNvPr>
          <p:cNvGrpSpPr/>
          <p:nvPr/>
        </p:nvGrpSpPr>
        <p:grpSpPr>
          <a:xfrm>
            <a:off x="4226381" y="2013004"/>
            <a:ext cx="3288262" cy="3188822"/>
            <a:chOff x="668306" y="2551484"/>
            <a:chExt cx="3288262" cy="318882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A90F594-4221-1E34-9C4B-B7B7582E3C66}"/>
                </a:ext>
              </a:extLst>
            </p:cNvPr>
            <p:cNvSpPr txBox="1"/>
            <p:nvPr/>
          </p:nvSpPr>
          <p:spPr>
            <a:xfrm>
              <a:off x="1627414" y="2551484"/>
              <a:ext cx="1370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 Light" panose="020B0502040204020203" pitchFamily="34" charset="0"/>
                  <a:cs typeface="Arial" panose="020B0604020202020204" pitchFamily="34" charset="0"/>
                </a:rPr>
                <a:t>02.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314B151-254E-8AB5-C616-6D3DFC618C1E}"/>
                </a:ext>
              </a:extLst>
            </p:cNvPr>
            <p:cNvSpPr txBox="1"/>
            <p:nvPr/>
          </p:nvSpPr>
          <p:spPr>
            <a:xfrm>
              <a:off x="668306" y="3431982"/>
              <a:ext cx="328826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Focus marketing campaigns and promotional events on the summer season  and on the top 15</a:t>
              </a:r>
              <a:r>
                <a:rPr lang="en-IN" sz="1600" b="1" dirty="0"/>
                <a:t> </a:t>
              </a:r>
              <a:r>
                <a:rPr lang="en-IN" sz="1600" b="1" dirty="0">
                  <a:solidFill>
                    <a:srgbClr val="FFAA00"/>
                  </a:solidFill>
                </a:rPr>
                <a:t>casual-rider 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stations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where most </a:t>
              </a:r>
              <a:r>
                <a:rPr lang="en-IN" sz="1600" dirty="0">
                  <a:solidFill>
                    <a:srgbClr val="FFAA00"/>
                  </a:solidFill>
                </a:rPr>
                <a:t>casual riders 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activity is concentrated.</a:t>
              </a:r>
              <a:b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b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Focusing on summer season and top 15 stations 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does not mean ignore all the other seasons and stations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</a:t>
              </a:r>
              <a:endPara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51E562E-FCEA-2855-6666-B5746DE7C3B5}"/>
              </a:ext>
            </a:extLst>
          </p:cNvPr>
          <p:cNvGrpSpPr/>
          <p:nvPr/>
        </p:nvGrpSpPr>
        <p:grpSpPr>
          <a:xfrm>
            <a:off x="8235432" y="2013004"/>
            <a:ext cx="3288262" cy="3924504"/>
            <a:chOff x="668304" y="2551484"/>
            <a:chExt cx="3288262" cy="392450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D00524-9E44-5D57-2E02-1CCE857DAEDA}"/>
                </a:ext>
              </a:extLst>
            </p:cNvPr>
            <p:cNvSpPr txBox="1"/>
            <p:nvPr/>
          </p:nvSpPr>
          <p:spPr>
            <a:xfrm>
              <a:off x="1627414" y="2551484"/>
              <a:ext cx="1370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hnschrift Light" panose="020B0502040204020203" pitchFamily="34" charset="0"/>
                  <a:cs typeface="Arial" panose="020B0604020202020204" pitchFamily="34" charset="0"/>
                </a:rPr>
                <a:t>03.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F84C81-87BA-833C-2068-78779A42FE02}"/>
                </a:ext>
              </a:extLst>
            </p:cNvPr>
            <p:cNvSpPr txBox="1"/>
            <p:nvPr/>
          </p:nvSpPr>
          <p:spPr>
            <a:xfrm>
              <a:off x="668304" y="3429000"/>
              <a:ext cx="3288262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 </a:t>
              </a:r>
              <a:r>
                <a:rPr lang="en-IN" sz="1600" b="1" dirty="0">
                  <a:solidFill>
                    <a:srgbClr val="00DBD6"/>
                  </a:solidFill>
                </a:rPr>
                <a:t>member-only events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such as group rides, races, and social meetups, aimed at the under-35 riders who make up most of the </a:t>
              </a:r>
              <a:r>
                <a:rPr lang="en-IN" sz="1600" b="1" dirty="0">
                  <a:solidFill>
                    <a:srgbClr val="FFAA00"/>
                  </a:solidFill>
                </a:rPr>
                <a:t>casual riders 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base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and promote membership as the way in.</a:t>
              </a:r>
              <a:b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b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All the evens must not be only for </a:t>
              </a:r>
              <a:r>
                <a:rPr lang="en-IN" sz="1600" dirty="0">
                  <a:solidFill>
                    <a:srgbClr val="00DBD6"/>
                  </a:solidFill>
                </a:rPr>
                <a:t>member-only</a:t>
              </a:r>
              <a:r>
                <a:rPr lang="en-IN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some events can be,  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free entry for both type of users to show </a:t>
              </a:r>
              <a:r>
                <a:rPr lang="en-IN" sz="1600" b="1" dirty="0">
                  <a:solidFill>
                    <a:srgbClr val="FFAA00"/>
                  </a:solidFill>
                </a:rPr>
                <a:t>casual riders </a:t>
              </a:r>
              <a:r>
                <a:rPr lang="en-I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what are the benefit of a membership.  </a:t>
              </a:r>
              <a:endPara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Small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2586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82DF6A-03F9-C5C4-2E0B-6A024C2D3FE6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A4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1BB39-198A-2C3E-CB96-7F5F22B930EB}"/>
              </a:ext>
            </a:extLst>
          </p:cNvPr>
          <p:cNvSpPr txBox="1"/>
          <p:nvPr/>
        </p:nvSpPr>
        <p:spPr>
          <a:xfrm>
            <a:off x="1563858" y="2321004"/>
            <a:ext cx="7040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chemeClr val="bg1"/>
                </a:solidFill>
                <a:latin typeface="Heavitas" pitchFamily="2" charset="0"/>
              </a:rPr>
              <a:t>Thank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29E3-7389-C60B-4BB3-5AF5E4978CA8}"/>
              </a:ext>
            </a:extLst>
          </p:cNvPr>
          <p:cNvSpPr txBox="1"/>
          <p:nvPr/>
        </p:nvSpPr>
        <p:spPr>
          <a:xfrm>
            <a:off x="3545058" y="3006804"/>
            <a:ext cx="7040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chemeClr val="bg1"/>
                </a:solidFill>
                <a:latin typeface="Heavitas" pitchFamily="2" charset="0"/>
              </a:rPr>
              <a:t>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18299-8D7B-34D6-3849-1E9FE3242583}"/>
              </a:ext>
            </a:extLst>
          </p:cNvPr>
          <p:cNvSpPr txBox="1"/>
          <p:nvPr/>
        </p:nvSpPr>
        <p:spPr>
          <a:xfrm>
            <a:off x="3451752" y="2248406"/>
            <a:ext cx="8061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Segoe UI Variable Small" pitchFamily="2" charset="0"/>
              </a:rPr>
              <a:t>Any Questions</a:t>
            </a:r>
          </a:p>
        </p:txBody>
      </p:sp>
    </p:spTree>
    <p:extLst>
      <p:ext uri="{BB962C8B-B14F-4D97-AF65-F5344CB8AC3E}">
        <p14:creationId xmlns:p14="http://schemas.microsoft.com/office/powerpoint/2010/main" val="3347742265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456</TotalTime>
  <Words>502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 Light</vt:lpstr>
      <vt:lpstr>Calibri</vt:lpstr>
      <vt:lpstr>Calibri Light</vt:lpstr>
      <vt:lpstr>Heavitas</vt:lpstr>
      <vt:lpstr>Segoe UI Variable Small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rehaan hasan</dc:creator>
  <cp:lastModifiedBy>rehaan hasan</cp:lastModifiedBy>
  <cp:revision>24</cp:revision>
  <dcterms:created xsi:type="dcterms:W3CDTF">2026-10-24T15:50:22Z</dcterms:created>
  <dcterms:modified xsi:type="dcterms:W3CDTF">2026-10-26T13:51:07Z</dcterms:modified>
</cp:coreProperties>
</file>